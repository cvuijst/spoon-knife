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18564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13647" y="1371600"/>
            <a:ext cx="5916705" cy="941294"/>
          </a:xfrm>
          <a:prstGeom prst="roundRect">
            <a:avLst/>
          </a:prstGeom>
          <a:noFill/>
          <a:ln w="6350">
            <a:solidFill>
              <a:srgbClr val="AAAAAA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 flipH="1">
            <a:off x="806823" y="1021976"/>
            <a:ext cx="2823882" cy="484094"/>
          </a:xfrm>
          <a:prstGeom prst="line">
            <a:avLst/>
          </a:prstGeom>
          <a:ln w="1270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513294" y="1021976"/>
            <a:ext cx="2823882" cy="484094"/>
          </a:xfrm>
          <a:prstGeom prst="line">
            <a:avLst/>
          </a:prstGeom>
          <a:ln w="1270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72000" y="1021976"/>
            <a:ext cx="0" cy="349624"/>
          </a:xfrm>
          <a:prstGeom prst="line">
            <a:avLst/>
          </a:prstGeom>
          <a:ln w="1270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949823" y="2205317"/>
            <a:ext cx="2756647" cy="672353"/>
          </a:xfrm>
          <a:prstGeom prst="line">
            <a:avLst/>
          </a:prstGeom>
          <a:ln w="1270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3966882" y="2205317"/>
            <a:ext cx="739588" cy="672353"/>
          </a:xfrm>
          <a:prstGeom prst="line">
            <a:avLst/>
          </a:prstGeom>
          <a:ln w="1270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06470" y="2205317"/>
            <a:ext cx="1277471" cy="672353"/>
          </a:xfrm>
          <a:prstGeom prst="line">
            <a:avLst/>
          </a:prstGeom>
          <a:ln w="1270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06470" y="2205317"/>
            <a:ext cx="2823882" cy="672353"/>
          </a:xfrm>
          <a:prstGeom prst="line">
            <a:avLst/>
          </a:prstGeom>
          <a:ln w="1270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554941" y="2205317"/>
            <a:ext cx="3966882" cy="2017059"/>
          </a:xfrm>
          <a:prstGeom prst="line">
            <a:avLst/>
          </a:prstGeom>
          <a:ln w="1270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311588" y="2205317"/>
            <a:ext cx="1210235" cy="2017059"/>
          </a:xfrm>
          <a:prstGeom prst="line">
            <a:avLst/>
          </a:prstGeom>
          <a:ln w="1270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521823" y="2205317"/>
            <a:ext cx="1143000" cy="2017059"/>
          </a:xfrm>
          <a:prstGeom prst="line">
            <a:avLst/>
          </a:prstGeom>
          <a:ln w="1270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756647" y="1021976"/>
            <a:ext cx="1008529" cy="726141"/>
          </a:xfrm>
          <a:prstGeom prst="line">
            <a:avLst/>
          </a:prstGeom>
          <a:ln w="12700">
            <a:solidFill>
              <a:srgbClr val="3B8BD4"/>
            </a:solidFill>
            <a:prstDash val="sys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56647" y="2205317"/>
            <a:ext cx="0" cy="968188"/>
          </a:xfrm>
          <a:prstGeom prst="line">
            <a:avLst/>
          </a:prstGeom>
          <a:ln w="12700">
            <a:solidFill>
              <a:srgbClr val="3B8BD4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56647" y="3173505"/>
            <a:ext cx="4141694" cy="0"/>
          </a:xfrm>
          <a:prstGeom prst="line">
            <a:avLst/>
          </a:prstGeom>
          <a:ln w="12700">
            <a:solidFill>
              <a:srgbClr val="3B8BD4"/>
            </a:solidFill>
            <a:prstDash val="sys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96235" y="457200"/>
            <a:ext cx="2151529" cy="564776"/>
          </a:xfrm>
          <a:prstGeom prst="roundRect">
            <a:avLst/>
          </a:prstGeom>
          <a:solidFill>
            <a:srgbClr val="EEEDFE"/>
          </a:solidFill>
          <a:ln w="635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134470" y="1506070"/>
            <a:ext cx="1344705" cy="645458"/>
          </a:xfrm>
          <a:prstGeom prst="roundRect">
            <a:avLst/>
          </a:prstGeom>
          <a:solidFill>
            <a:srgbClr val="F1EFE8"/>
          </a:solidFill>
          <a:ln w="6350">
            <a:solidFill>
              <a:srgbClr val="5F5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7664823" y="1506070"/>
            <a:ext cx="1344705" cy="645458"/>
          </a:xfrm>
          <a:prstGeom prst="roundRect">
            <a:avLst/>
          </a:prstGeom>
          <a:solidFill>
            <a:srgbClr val="F1EFE8"/>
          </a:solidFill>
          <a:ln w="6350">
            <a:solidFill>
              <a:srgbClr val="5F5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815352" y="1748117"/>
            <a:ext cx="1882588" cy="457200"/>
          </a:xfrm>
          <a:prstGeom prst="roundRect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3899647" y="1748117"/>
            <a:ext cx="1613647" cy="457200"/>
          </a:xfrm>
          <a:prstGeom prst="roundRect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715000" y="1748117"/>
            <a:ext cx="1613647" cy="457200"/>
          </a:xfrm>
          <a:prstGeom prst="roundRect">
            <a:avLst/>
          </a:prstGeom>
          <a:solidFill>
            <a:srgbClr val="E6F1FB"/>
          </a:solidFill>
          <a:ln w="635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1143000" y="2877670"/>
            <a:ext cx="1479176" cy="564776"/>
          </a:xfrm>
          <a:prstGeom prst="roundRect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3025588" y="2877670"/>
            <a:ext cx="1479176" cy="564776"/>
          </a:xfrm>
          <a:prstGeom prst="roundRect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5042647" y="2877670"/>
            <a:ext cx="1748117" cy="564776"/>
          </a:xfrm>
          <a:prstGeom prst="roundRect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925235" y="2877670"/>
            <a:ext cx="1344705" cy="564776"/>
          </a:xfrm>
          <a:prstGeom prst="roundRect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613647" y="4222376"/>
            <a:ext cx="1479176" cy="564776"/>
          </a:xfrm>
          <a:prstGeom prst="roundRect">
            <a:avLst/>
          </a:prstGeom>
          <a:solidFill>
            <a:srgbClr val="E6F1FB"/>
          </a:solidFill>
          <a:ln w="635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4168588" y="4222376"/>
            <a:ext cx="2017058" cy="564776"/>
          </a:xfrm>
          <a:prstGeom prst="roundRect">
            <a:avLst/>
          </a:prstGeom>
          <a:solidFill>
            <a:srgbClr val="E6F1FB"/>
          </a:solidFill>
          <a:ln w="635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589058" y="4222376"/>
            <a:ext cx="2151529" cy="564776"/>
          </a:xfrm>
          <a:prstGeom prst="roundRect">
            <a:avLst/>
          </a:prstGeom>
          <a:solidFill>
            <a:srgbClr val="E6F1FB"/>
          </a:solidFill>
          <a:ln w="635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75764" y="56477"/>
            <a:ext cx="6992470" cy="2581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</a:rPr>
              <a:t>Nieuwe structuur ondersteunende dienst (definitief)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27294" y="607807"/>
            <a:ext cx="2689411" cy="2581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C3489"/>
                </a:solidFill>
              </a:rPr>
              <a:t>Bestuurder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537882" y="1618353"/>
            <a:ext cx="2689411" cy="2366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441"/>
                </a:solidFill>
              </a:rPr>
              <a:t>Bestuurs-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-537882" y="1820059"/>
            <a:ext cx="2689411" cy="2366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441"/>
                </a:solidFill>
              </a:rPr>
              <a:t>secretaris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2470" y="1618353"/>
            <a:ext cx="2689411" cy="2366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441"/>
                </a:solidFill>
              </a:rPr>
              <a:t>Kwaliteits-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2470" y="1820059"/>
            <a:ext cx="2689411" cy="2366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441"/>
                </a:solidFill>
              </a:rPr>
              <a:t>medewerker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27294" y="1403200"/>
            <a:ext cx="2689411" cy="2366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99999"/>
                </a:solidFill>
              </a:rPr>
              <a:t>Stafoverleg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1941" y="1752824"/>
            <a:ext cx="2689411" cy="2366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5041"/>
                </a:solidFill>
              </a:rPr>
              <a:t>Senior controller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1941" y="1927635"/>
            <a:ext cx="2689411" cy="2366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6E56"/>
                </a:solidFill>
              </a:rPr>
              <a:t>(nieuw te werven)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61764" y="1752824"/>
            <a:ext cx="2689411" cy="2366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12B13"/>
                </a:solidFill>
              </a:rPr>
              <a:t>Stafhoofd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61764" y="1927635"/>
            <a:ext cx="2689411" cy="2366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93C1D"/>
                </a:solidFill>
              </a:rPr>
              <a:t>BV &amp; ICT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77117" y="1752824"/>
            <a:ext cx="2689411" cy="2366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C447C"/>
                </a:solidFill>
              </a:rPr>
              <a:t>Stafhoofd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77117" y="1927635"/>
            <a:ext cx="2689411" cy="2366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5FA5"/>
                </a:solidFill>
              </a:rPr>
              <a:t>M &amp; O  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7882" y="2934148"/>
            <a:ext cx="2689411" cy="2581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12B13"/>
                </a:solidFill>
              </a:rPr>
              <a:t>ICT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7882" y="3137871"/>
            <a:ext cx="2689411" cy="2366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93C1D"/>
                </a:solidFill>
              </a:rPr>
              <a:t>2 mw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0470" y="2934148"/>
            <a:ext cx="2689411" cy="2581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12B13"/>
                </a:solidFill>
              </a:rPr>
              <a:t>Facilitair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0470" y="3137871"/>
            <a:ext cx="2689411" cy="2366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93C1D"/>
                </a:solidFill>
              </a:rPr>
              <a:t>1 mw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2934148"/>
            <a:ext cx="2689411" cy="2581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12B13"/>
                </a:solidFill>
              </a:rPr>
              <a:t>Roosterbeheer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3137871"/>
            <a:ext cx="2689411" cy="2366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93C1D"/>
                </a:solidFill>
              </a:rPr>
              <a:t>3 mw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52882" y="2934148"/>
            <a:ext cx="2689411" cy="2581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12B13"/>
                </a:solidFill>
              </a:rPr>
              <a:t>Fin. admin.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52882" y="3137871"/>
            <a:ext cx="2689411" cy="2366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93C1D"/>
                </a:solidFill>
              </a:rPr>
              <a:t>1 mw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8529" y="4278854"/>
            <a:ext cx="2689411" cy="2581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C447C"/>
                </a:solidFill>
              </a:rPr>
              <a:t>P&amp;O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8529" y="4482577"/>
            <a:ext cx="2689411" cy="2366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5FA5"/>
                </a:solidFill>
              </a:rPr>
              <a:t>5 mw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32411" y="4359536"/>
            <a:ext cx="2689411" cy="2581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C447C"/>
                </a:solidFill>
              </a:rPr>
              <a:t>PR &amp; communicatie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20117" y="4278854"/>
            <a:ext cx="2689411" cy="2581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C447C"/>
                </a:solidFill>
              </a:rPr>
              <a:t>Leerlingadmin.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0117" y="4482577"/>
            <a:ext cx="2689411" cy="2366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5FA5"/>
                </a:solidFill>
              </a:rPr>
              <a:t>1 mw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37882" y="5432611"/>
            <a:ext cx="537882" cy="0"/>
          </a:xfrm>
          <a:prstGeom prst="line">
            <a:avLst/>
          </a:prstGeom>
          <a:ln w="1270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183341" y="5316294"/>
            <a:ext cx="2151529" cy="2366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</a:rPr>
              <a:t>Hiërarchisch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689411" y="5432611"/>
            <a:ext cx="537883" cy="0"/>
          </a:xfrm>
          <a:prstGeom prst="line">
            <a:avLst/>
          </a:prstGeom>
          <a:ln w="12700">
            <a:solidFill>
              <a:srgbClr val="3B8BD4"/>
            </a:solidFill>
            <a:prstDash val="sys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334870" y="5316294"/>
            <a:ext cx="4303058" cy="2366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</a:rPr>
              <a:t>Functioneel (inhoudelijke aansturing)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5458" y="5639024"/>
            <a:ext cx="242047" cy="2366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A7517"/>
                </a:solidFill>
              </a:rPr>
              <a:t>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3717" y="5639024"/>
            <a:ext cx="4034117" cy="2366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</a:rPr>
              <a:t>Coördinator OD (primus inter pares)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